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r_logo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D4"/>
                </a:solidFill>
                <a:latin typeface="Arial"/>
              </a:defRPr>
            </a:pPr>
            <a:r>
              <a:t>MANDOROS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rial"/>
              </a:defRPr>
            </a:pPr>
            <a:r>
              <a:t>Meta-Analysis Network for Data, Outcomes &amp; Research Optimization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38BDF8"/>
                </a:solidFill>
                <a:latin typeface="Arial"/>
              </a:defRPr>
            </a:pPr>
            <a:r>
              <a:t>— From Raw Trials to Global Clinical Verdicts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PRISMA 2020 Compliant · Cochrane Handbook Core · wviechtb/metafor-Grade REML · Network Meta-Analysis &amp; SUCRA</a:t>
            </a:r>
            <a:br/>
            <a:r>
              <a:t>Official Keynote &amp; Technical Specification Presentation for Global Universities &amp; Clinical Researchers</a:t>
            </a:r>
            <a:br/>
            <a:r>
              <a:t>Live Production: https://mandoros.onrender.com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Table of Contents &amp; Academic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300" b="1">
                <a:solidFill>
                  <a:srgbClr val="00F5D4"/>
                </a:solidFill>
                <a:latin typeface="Arial"/>
              </a:defRPr>
            </a:pPr>
            <a:r>
              <a:t>PART I: FOUNDATIONS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1. The Systematic Review Bottleneck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2. System Architecture &amp; Engineering Stack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3. The 8-Node Process Architecture (M-A-N-D-O-R-O-S)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PART II: CORE ENGINES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4. Stage-1 Atomic Curation (7 Sheets / 88 Fields)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5. Phase-2 Multi-Trial Evidence Synthesis &amp; REML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6. Network Meta-Analysis (NMA) &amp; SUCRA Hierarchy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PART III: DISCOVERY &amp; PRACTICE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7. In-Silico Synthesis &amp; Virtual Clinical Trials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8. Step-by-Step User Walkthrough Manual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9. Google AI Studio BYOK Tutorial &amp;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CLINICAL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Systematic Review Bottleneck vs MANDOROS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F87171"/>
                </a:solidFill>
                <a:latin typeface="Arial"/>
              </a:defRPr>
            </a:pPr>
            <a:r>
              <a:t>THE PROBLEM: Critical Evidence Locked in Unstructured PDFs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12-24 Months Review Latency: Producing Cochrane reviews manually causes catastrophic clinical delays.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Unstructured PDF Silos: Key endpoints, SDs, and patient subsets are trapped in nested multi-column tables.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Methodological Heterogeneity: Differing endpoints, dose tiers, and follow-up weeks prevent direct pooling.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LLM Hallucination Risk: General-purpose LLMs invent patient counts and confabulate treatment effects.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00F5D4"/>
                </a:solidFill>
                <a:latin typeface="Arial"/>
              </a:defRPr>
            </a:pPr>
            <a:r>
              <a:t>THE MANDOROS SOLUTION: Deterministic Verbatim Synthesis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Seconds, Not Years: Ingests 50-page RCTs and extracts 7 relational sheets in under 45 seconds.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Verbatim Page &amp; Quote Provenance: Every single number is bound to exact source coordinates.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Pure metafor Biostatistics: Python REML, Knapp-Hartung, and graph-theoretic NMA.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In-Silico Virtual Trials: Imputes unmeasured endpoints and designs the next breakthrough trial.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Architecture &amp; How MANDOROS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00F5D4"/>
                </a:solidFill>
              </a:defRPr>
            </a:pPr>
            <a:r>
              <a:t>LAYER 1 · INGESTION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Zero-Loss PDF Deconstruction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PyMuPDF / pdfplumber pipelines extract high-fidelity layout blocks, tables, footnotes, and vector graphics without optical truncation.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LAYER 2 · EXTRACTION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Dual-Layer Consensus AI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Guided schema prompts enforce Pydantic AST validation, deterministic value/operator splits, and explicit not_reported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LAYER 3 · BIOSTATISTICS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metafor &amp; netmeta Core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Replicates Wolfgang Viechtbauer's R metafor package in Python: REML, DerSimonian-Laird, Knapp-Hartung, and Bucher NMA.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LAYER 4 · INTERFACE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Apple Glass Bento UI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Built on Gradio 6 / FastAPI with an Obsidian glassmorphism design system, responsive tabs, multi-file batch studio, and Plotly visuals.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728655" cy="1097280"/>
          </a:xfrm>
          <a:prstGeom prst="roundRect">
            <a:avLst/>
          </a:prstGeom>
          <a:solidFill>
            <a:srgbClr val="0B16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🔒 EPISTEMIC INTEGRITY LAW: ZERO-IMPUTATION STAGE-1 GUARANTEE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If an endpoint, standard deviation, or patient count is omitted from the published trial, MANDOROS strictly tags it as not_reported during Stage-1 extraction. The platform never hallucinates baseline metrics or clinical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8-Node Process Architecture (M-A-N-D-O-R-O-S)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00F5D4"/>
                </a:solidFill>
              </a:defRPr>
            </a:pPr>
            <a:r>
              <a:t>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Meta-Analysis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DL, REML &amp; Knapp-Hartung pooling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A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AI Automation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Verbatim quote-level page provenance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818CF8"/>
                </a:solidFill>
              </a:defRPr>
            </a:pPr>
            <a:r>
              <a:t>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Network NMA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Bucher indirect comparison &amp; SUCRA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A78BFA"/>
                </a:solidFill>
              </a:defRPr>
            </a:pPr>
            <a:r>
              <a:t>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Data Schema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88 canonical atomic value/unit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O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Outcomes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Continuous, binary, survival &amp; longitudinal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A855F7"/>
                </a:solidFill>
              </a:defRPr>
            </a:pPr>
            <a:r>
              <a:t>R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Research Rigor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CONSORT 2010 &amp; PRISMA 2020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00F5D4"/>
                </a:solidFill>
              </a:defRPr>
            </a:pPr>
            <a:r>
              <a:t>O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Optimization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Scale-free SMD clinical domain bridging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Synthesis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In-silico latent imputation &amp; virtual trials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STAGE-1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Atomic Curation: 7 Relational Sheets &amp; 88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3840480"/>
                <a:gridCol w="2499055"/>
              </a:tblGrid>
              <a:tr h="5372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Relational Sheet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Atomic Fields Extracted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Epistemic Guardrail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1. Master_Extraction_Sheet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Consolidated Evidence Overview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Study ID, Title, DOI, Phase, Total N, Primary Endpoint, Safety Verdict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Verbatim quote &amp; page provenance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2. Study_Characteristics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Design &amp; Methodological Rigor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Allocation, Masking, Design Type, Centers, Funding Source, Risk of Bias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CONSORT Item 1-10 compliance audit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3. Population_Baseline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Patient Demographics &amp; Labs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Mean/SD Age, % Female, BMI, Disease Duration, Baseline Diagnostic Markers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Cross-arm arithmetic conservation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4. Intervention_Arms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Pharmacological Regimens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Arm Name, Active Ingredient, Dosage, Route, Regimen Frequency, Titration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WHO ATC &amp; RxNorm standardization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5. Outcomes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Efficacy &amp; Safety Endpoints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Timepoint (Wks), Metric, Central Tendency, Dispersion, p-value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Deterministic Value/Operator/Unit split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6. Variables_Matrix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Trajectory Grid Across Arms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Normalized baseline vs post-baseline delta curves across all arms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Scale normalization &amp; CFB audit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7. Eligibility_Criteria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Inclusion &amp; Exclusion Matrix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Category, Atomic Variable, Relational Operator (&lt;, &lt;=, &gt;, &gt;=), Threshold, Unit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4-Operator mathematical validation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PHASE-2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Multi-Trial Evidence Synthesis &amp; metafor Biostatistics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Restricted Maximum Likelihood (REML) &amp; Pooling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Restricted Maximum Likelihood (REML): Unbiased between-study variance estimation (tau^2) robust to small-sample distortion.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Knapp-Hartung Variance Correction: Adjusts confidence intervals to prevent false-positive inflation.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Comprehensive Heterogeneity: Cochran's Q test, Higgins' I^2 percentage, and 95% Prediction Intervals (PI).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Small-Study Bias: Egger's linear regression asymmetry and Begg-Mazumdar rank correlation test.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Leave-One-Out Sensitivity: Automatically recalculates meta-analysis excluding one study at a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Network Meta-Analysis (NMA) &amp; SUCRA Rankings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Bucher Indirect Comparison: Calculates indirect relative treatment effects across trials with common comparators.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SUCRA Probability Surfaces: Surface Under the Cumulative Ranking curves via Monte Carlo simulation.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P-Score Treatment Hierarchy: Continuous probability metrics ranking treatments from most effective to least.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Scale-Free SMD Domain Bridging: Hedges' g standardization reconciles divergent clinical instruments.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Subgroup Variance Decomposition: Cochran's Q_between evaluates dosage-tier and duration interactions.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IN-SILICO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In-Silico Emergent Synthesis: Inventing the Next Breakthrough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00F5D4"/>
                </a:solidFill>
              </a:defRPr>
            </a:pPr>
            <a:r>
              <a:t>SURROGATE IMPUTATION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Missing-Data Matrix Reconstruction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</a:defRPr>
            </a:pPr>
            <a:r>
              <a:t>When pooling heterogeneous trials, incomplete studies that omitted a specific follow-up timepoint or secondary biomarker are scientifically reconstructed using cross-study surrogate regression and longitudinal trajectory splines.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PREDICTIVE SIMULATION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Dose–Duration Virtual Trial Simulator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</a:defRPr>
            </a:pPr>
            <a:r>
              <a:t>Researchers can drag dosage (0–3,000 mg/day) and duration (4–156 weeks) sliders to forecast therapeutic responses with automated Extrapolation Risk Ratings (Safe Interpolation vs Mild vs Extreme Extrapolation).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DE-NOVO DESIGN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Synthesized Trial Protocol Blueprint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</a:defRPr>
            </a:pPr>
            <a:r>
              <a:t>Synthesizes the optimal next-generation trial: pinpointing the therapeutic sweet-spot dose before toxicity escalates, trajectory plateau week, super-responder phenotype, and statistical sample size for 90%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Step-by-Step User Walkthrough: How to Use MANDOROS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01 · Stage 1: Extract Single RCT PDF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Drop any clinical trial PDF protocol or published paper into the Stage-1 Uploader, select your AI model, and click 'Run Academic Deep Extraction'. Inspect the 7 relational sheets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02 · Stage 2: Ingest Multi-Trial Cohort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Switch to Tab 2 ('Phase 2 Multi-Trial Synthesis'). Select an existing drug folder or click 'Upload Multiple Files' and drop multiple PDFs/Excels using the glowing batch uploader studio.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03 · Stage 3: Run Synthesis &amp; Inspect Results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Click 'Run Multi-Trial Meta-Analysis'. View the Executive Verdict card, the Divergence Adaptation Strategy, interactive Forest/Funnel plots, SUCRA rankings, and Cochran Q between-subgroup statistics.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04 · Stage 4: Simulate Virtual Trials &amp; Export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Interact with the Virtual Trial Simulator sliders, review the Reconstructed Missing Data Table, and download the 10-sheet Master Cohort Excel, interactive HTML dashboard, and ZIP archive.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How to Generate &amp; Connect a Google AI Studio API Key (BYOK)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0B162C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100" b="1">
                <a:solidFill>
                  <a:srgbClr val="00F5D4"/>
                </a:solidFill>
              </a:defRPr>
            </a:pPr>
            <a:r>
              <a:t>💡 WHY BRING YOUR OWN KEY (BYOK)?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Connecting your personal Google AI Studio key gives you 100% free unlimited quota, maximum Gemini 2.0 Flash / 1.5 Pro processing speeds, prevents shared server rate-limits, and keeps your research completely private.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00F5D4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Visit AI Studio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Go to aistudio.google.com/app/apikey in your browser and sign in with your regular Google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Click Create Key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Click the blue button labeled 'Create API key'. Choose any Google Cloud project or click 'Create API key in new project'.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Copy Your Key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Copy the generated key string (which starts with AIzaSy...). It is 100% free with generous daily rate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Paste in MANDOROS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Paste the key into the 'AI Provider API Key' password box in MANDOROS. The platform automatically unlocks deep clinical reasoning.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Universal Export Center &amp; Institutional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Universal Publication-Grade Artifacts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7-Sheet Single-Trial Excel: Complete audit-ready relational workbook.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10-Sheet Master Cohort Workbook: Pooled comparison matrix, heatmap, REML results, SUCRA rankings, and virtual trial blueprint.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Standalone Interactive HTML Dashboard: Embedded Plotly Forest/Funnel plots and SUCRA curves for web sharing.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Structured JSON Protocol Trees: Clean programmatic API schema for bioinformatic and computational biology pipelines.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ZIP Bundle Export: All individual study workbooks and cohort reports bundled in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International Methodological Standards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PRISMA 2020: Fully compliant with Preferred Reporting Items for Systematic Reviews and Meta-Analyses.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CONSORT 2010: Aligned with Consolidated Standards of Reporting Trials guidelines for clinical trials.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Cochrane Handbook Core: Inverted-variance weighting, random-effects models, and small-study bias auditing.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GRADE Framework Ready: Transparent confidence grading on all reconstructed and pooled evidence recommendations.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Open Science &amp; Reproducibility: Validated to yield identical numerical results to R metafor and netmeta.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r_logo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Accelerating Medical Discovery Worldwide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  <a:latin typeface="Arial"/>
              </a:defRPr>
            </a:pPr>
            <a:r>
              <a:t>MANDOROS bridges the gap between massive clinical trial literature and rapid evidence-based medicine. By eliminating manual transcription, enforcing zero-hallucination verbatim citations, and deploying metafor-grade biostatistics, we empower academic institutions, healthcare systems, and pharmaceutical innovators to discover insights that save lives.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4990" y="4937760"/>
            <a:ext cx="6400800" cy="822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F5D4"/>
                </a:solidFill>
              </a:defRPr>
            </a:pPr>
            <a:r>
              <a:t>Live Platform: https://mandoros.onrender.com · GitHub: github.com/ahmedmando133/MANDOROS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